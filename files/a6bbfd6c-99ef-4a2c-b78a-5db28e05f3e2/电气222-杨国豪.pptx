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embeddedFontLst>
    <p:embeddedFont>
      <p:font typeface="Microsoft YaHei" panose="020B0503020204020204" pitchFamily="34" charset="-122"/>
      <p:regular r:id="rId25"/>
      <p:bold r:id="rId26"/>
    </p:embeddedFont>
    <p:embeddedFont>
      <p:font typeface="Montserrat" panose="00000500000000000000" pitchFamily="2" charset="0"/>
      <p:regular r:id="rId27"/>
      <p:bold r:id="rId28"/>
    </p:embeddedFont>
    <p:embeddedFont>
      <p:font typeface="Open Sans" panose="020B0606030504020204" pitchFamily="3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92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734310" y="2903220"/>
            <a:ext cx="6723380" cy="12001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基于STM32与OneNet的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智能室内环境监测与调控系统</a:t>
            </a:r>
          </a:p>
        </p:txBody>
      </p:sp>
      <p:sp>
        <p:nvSpPr>
          <p:cNvPr id="3" name="AutoShape 3"/>
          <p:cNvSpPr/>
          <p:nvPr/>
        </p:nvSpPr>
        <p:spPr>
          <a:xfrm>
            <a:off x="4315460" y="1830070"/>
            <a:ext cx="3561080" cy="13233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毕业论文答辩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078480" y="4191000"/>
            <a:ext cx="6033770" cy="4622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答辩人：杨国豪 | 指导教师：关朝旭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电气工程及其自动化 | 2026年5月</a:t>
            </a:r>
          </a:p>
        </p:txBody>
      </p:sp>
      <p:sp>
        <p:nvSpPr>
          <p:cNvPr id="5" name="AutoShape 5"/>
          <p:cNvSpPr/>
          <p:nvPr/>
        </p:nvSpPr>
        <p:spPr>
          <a:xfrm>
            <a:off x="4843780" y="4953000"/>
            <a:ext cx="256540" cy="25654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95900" y="4953000"/>
            <a:ext cx="256540" cy="256540"/>
          </a:xfrm>
          <a:prstGeom prst="ellipse">
            <a:avLst/>
          </a:prstGeom>
          <a:solidFill>
            <a:srgbClr val="C7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49290" y="4953000"/>
            <a:ext cx="256540" cy="25654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01410" y="4953000"/>
            <a:ext cx="256540" cy="256540"/>
          </a:xfrm>
          <a:prstGeom prst="ellipse">
            <a:avLst/>
          </a:prstGeom>
          <a:solidFill>
            <a:srgbClr val="C7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53530" y="4953000"/>
            <a:ext cx="256540" cy="25654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06920" y="4953000"/>
            <a:ext cx="256540" cy="256540"/>
          </a:xfrm>
          <a:prstGeom prst="ellipse">
            <a:avLst/>
          </a:prstGeom>
          <a:solidFill>
            <a:srgbClr val="C7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">
            <a:off x="3430905" y="2457441"/>
            <a:ext cx="84591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6B6B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2" name="Connector 12"/>
          <p:cNvCxnSpPr/>
          <p:nvPr/>
        </p:nvCxnSpPr>
        <p:spPr>
          <a:xfrm rot="5">
            <a:off x="7914005" y="2457441"/>
            <a:ext cx="84591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B5CE6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60520" y="1271270"/>
            <a:ext cx="3956050" cy="848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目录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3">
            <a:off x="4065905" y="1666232"/>
            <a:ext cx="97290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6B6B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cxnSp>
        <p:nvCxnSpPr>
          <p:cNvPr id="4" name="Connector 4"/>
          <p:cNvCxnSpPr/>
          <p:nvPr/>
        </p:nvCxnSpPr>
        <p:spPr>
          <a:xfrm rot="3">
            <a:off x="7152005" y="1666232"/>
            <a:ext cx="97290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B5CE6">
                <a:alpha val="100000"/>
              </a:srgbClr>
            </a:solidFill>
            <a:prstDash val="solid"/>
            <a:miter lim="80000000"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4843780" y="2101850"/>
            <a:ext cx="256540" cy="25654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95900" y="2101850"/>
            <a:ext cx="256540" cy="256540"/>
          </a:xfrm>
          <a:prstGeom prst="ellipse">
            <a:avLst/>
          </a:prstGeom>
          <a:solidFill>
            <a:srgbClr val="C7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49290" y="2101850"/>
            <a:ext cx="256540" cy="25654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01410" y="2101850"/>
            <a:ext cx="256540" cy="256540"/>
          </a:xfrm>
          <a:prstGeom prst="ellipse">
            <a:avLst/>
          </a:prstGeom>
          <a:solidFill>
            <a:srgbClr val="C7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53530" y="2101850"/>
            <a:ext cx="256540" cy="25654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06920" y="2101850"/>
            <a:ext cx="256540" cy="256540"/>
          </a:xfrm>
          <a:prstGeom prst="ellipse">
            <a:avLst/>
          </a:prstGeom>
          <a:solidFill>
            <a:srgbClr val="C7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43780" y="899160"/>
            <a:ext cx="256540" cy="25654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295900" y="899160"/>
            <a:ext cx="256540" cy="256540"/>
          </a:xfrm>
          <a:prstGeom prst="ellipse">
            <a:avLst/>
          </a:prstGeom>
          <a:solidFill>
            <a:srgbClr val="C7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49290" y="899160"/>
            <a:ext cx="256540" cy="25654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01410" y="899160"/>
            <a:ext cx="256540" cy="256540"/>
          </a:xfrm>
          <a:prstGeom prst="ellipse">
            <a:avLst/>
          </a:prstGeom>
          <a:solidFill>
            <a:srgbClr val="C7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53530" y="899160"/>
            <a:ext cx="256540" cy="25654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06920" y="899160"/>
            <a:ext cx="256540" cy="256540"/>
          </a:xfrm>
          <a:prstGeom prst="ellipse">
            <a:avLst/>
          </a:prstGeom>
          <a:solidFill>
            <a:srgbClr val="C7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909570" y="3921760"/>
            <a:ext cx="191770" cy="19177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16150" y="3195320"/>
            <a:ext cx="952500" cy="95250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345690" y="3286760"/>
            <a:ext cx="716280" cy="769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10360" y="4239260"/>
            <a:ext cx="2159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研究背景与意义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516380" y="4578350"/>
            <a:ext cx="2269490" cy="4622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现状痛点 &amp; 研究价值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204460" y="3921760"/>
            <a:ext cx="191770" cy="19177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495800" y="3214370"/>
            <a:ext cx="952500" cy="95250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65650" y="3305810"/>
            <a:ext cx="812800" cy="769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892550" y="4220210"/>
            <a:ext cx="2159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系统设计与技术路线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868420" y="4559300"/>
            <a:ext cx="2269490" cy="4622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架构设计 &amp; 控制流程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517130" y="3921760"/>
            <a:ext cx="191770" cy="19177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775450" y="3214370"/>
            <a:ext cx="952500" cy="95250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816090" y="3305810"/>
            <a:ext cx="812800" cy="769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72200" y="4234180"/>
            <a:ext cx="2159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核心研究成果与测试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20460" y="4559300"/>
            <a:ext cx="2269490" cy="4622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系统实现 &amp; 性能表现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770110" y="3921760"/>
            <a:ext cx="191770" cy="19177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055100" y="3188970"/>
            <a:ext cx="952500" cy="95250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119870" y="3280410"/>
            <a:ext cx="822960" cy="769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451850" y="4259580"/>
            <a:ext cx="2159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结论与不足展望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572500" y="4584700"/>
            <a:ext cx="2269490" cy="4622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项目总结 &amp; 未来优化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15440" y="205740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276600" y="371856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64870" y="2860040"/>
            <a:ext cx="3956050" cy="848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PART 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19650" y="3040380"/>
            <a:ext cx="508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研究背景与意义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19650" y="3614420"/>
            <a:ext cx="6318250" cy="4622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从信息孤岛与高能耗痛点出发，明确系统核心目标与实践价值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室内环境监测现状与痛点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传统室内监测的四项核心挑战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754880" y="2504440"/>
            <a:ext cx="2683510" cy="268351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953000" y="34544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行业痛点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4大核心挑战</a:t>
            </a:r>
          </a:p>
        </p:txBody>
      </p:sp>
      <p:sp>
        <p:nvSpPr>
          <p:cNvPr id="8" name="AutoShape 8"/>
          <p:cNvSpPr/>
          <p:nvPr/>
        </p:nvSpPr>
        <p:spPr>
          <a:xfrm>
            <a:off x="3500120" y="2363470"/>
            <a:ext cx="678180" cy="67818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31900" y="2320290"/>
            <a:ext cx="2159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信息获取孤岛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8980" y="2641600"/>
            <a:ext cx="2665730" cy="6007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依赖单设备或人工，难以全方位感知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3500120" y="4540250"/>
            <a:ext cx="678180" cy="67818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31900" y="4400550"/>
            <a:ext cx="2159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响应速度迟缓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8980" y="4720590"/>
            <a:ext cx="2665730" cy="6007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参数异常时无法及时通知，处理滞后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988300" y="2363470"/>
            <a:ext cx="678180" cy="67818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746490" y="2320290"/>
            <a:ext cx="2159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能耗控制不力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746490" y="2641600"/>
            <a:ext cx="2665730" cy="6007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设备无法根据实时数据自动精确调节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8012430" y="4540250"/>
            <a:ext cx="678180" cy="67818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746490" y="4400550"/>
            <a:ext cx="2159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缺乏智能闭环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746490" y="4720590"/>
            <a:ext cx="2665730" cy="6007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缺乏“监测-分析-调控”完整自动化链路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核心目标与应用价值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理论验证与实践落地的双重价值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1690370"/>
            <a:ext cx="2479040" cy="24790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56640" y="3220720"/>
            <a:ext cx="2479040" cy="2479040"/>
          </a:xfrm>
          <a:prstGeom prst="ellipse">
            <a:avLst/>
          </a:prstGeom>
          <a:solidFill>
            <a:srgbClr val="C7C8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007360" y="3220720"/>
            <a:ext cx="2479040" cy="247904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311400" y="2667000"/>
            <a:ext cx="190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理论价值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33500" y="4191000"/>
            <a:ext cx="190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实践价值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02000" y="4191000"/>
            <a:ext cx="190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场景扩展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051050"/>
            <a:ext cx="4445000" cy="5232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本研究的三大核心优势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921000"/>
            <a:ext cx="5334000" cy="553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01 </a:t>
            </a:r>
            <a:r>
              <a:rPr lang="en-US" sz="1800" b="1" i="0" u="none" strike="noStrike" dirty="0" err="1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理论价值</a:t>
            </a:r>
            <a:endParaRPr lang="en-US" sz="1100" dirty="0"/>
          </a:p>
          <a:p>
            <a:pPr indent="0" algn="l">
              <a:lnSpc>
                <a:spcPts val="1500"/>
              </a:lnSpc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验证嵌入式技术与物联网云平台结合的可行性，构建高效系统</a:t>
            </a:r>
            <a:endParaRPr lang="en-US" sz="1400" b="0" i="0" u="none" strike="noStrike" dirty="0"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4064000"/>
            <a:ext cx="5334000" cy="553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C7C8FF"/>
                </a:solidFill>
                <a:latin typeface="Montserrat"/>
                <a:ea typeface="Montserrat"/>
                <a:cs typeface="Montserrat"/>
                <a:sym typeface="Montserrat"/>
              </a:rPr>
              <a:t>02 </a:t>
            </a:r>
            <a:r>
              <a:rPr lang="en-US" sz="1800" b="1" i="0" u="none" strike="noStrike" dirty="0" err="1">
                <a:solidFill>
                  <a:srgbClr val="C7C8FF"/>
                </a:solidFill>
                <a:latin typeface="Montserrat"/>
                <a:ea typeface="Montserrat"/>
                <a:cs typeface="Montserrat"/>
                <a:sym typeface="Montserrat"/>
              </a:rPr>
              <a:t>实践价值</a:t>
            </a:r>
            <a:endParaRPr lang="en-US" sz="1100" dirty="0"/>
          </a:p>
          <a:p>
            <a:pPr indent="0" algn="l">
              <a:lnSpc>
                <a:spcPts val="1500"/>
              </a:lnSpc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具备低成本、部署灵活的特点，提供可视化交互与远程干预功能</a:t>
            </a:r>
            <a:endParaRPr lang="en-US" sz="1400" b="0" i="0" u="none" strike="noStrike" dirty="0"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5207000"/>
            <a:ext cx="5334000" cy="553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03 </a:t>
            </a:r>
            <a:r>
              <a:rPr lang="en-US" sz="1800" b="1" i="0" u="none" strike="noStrike" dirty="0" err="1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场景扩展</a:t>
            </a:r>
            <a:endParaRPr lang="en-US" sz="1100" dirty="0"/>
          </a:p>
          <a:p>
            <a:pPr indent="0" algn="l">
              <a:lnSpc>
                <a:spcPts val="1500"/>
              </a:lnSpc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广泛适用于智能家居、实验室环境及节能办公管理，前景广阔</a:t>
            </a:r>
            <a:endParaRPr lang="en-US" sz="1400" b="0" i="0" u="none" strike="noStrike" dirty="0"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15440" y="205740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276600" y="371856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64870" y="2860040"/>
            <a:ext cx="3956050" cy="848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PART 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19650" y="3040380"/>
            <a:ext cx="508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系统设计与技术路线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19650" y="3614420"/>
            <a:ext cx="6318250" cy="4622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感知层、网络层与应用层的深度融合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“端-管-云”总体架构设计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感知层、网络层和应用层的硬件与功能关联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14350" y="1543050"/>
            <a:ext cx="3562350" cy="2686050"/>
          </a:xfrm>
          <a:prstGeom prst="roundRect">
            <a:avLst>
              <a:gd name="adj" fmla="val 4728"/>
            </a:avLst>
          </a:prstGeom>
          <a:solidFill>
            <a:srgbClr val="F0F2F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8000" y="2374900"/>
            <a:ext cx="1016000" cy="1016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14350" y="4445000"/>
            <a:ext cx="3562350" cy="381000"/>
          </a:xfrm>
          <a:prstGeom prst="roundRect">
            <a:avLst>
              <a:gd name="adj" fmla="val 0"/>
            </a:avLst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感知层(端)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14350" y="4953000"/>
            <a:ext cx="3562350" cy="1385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165100" indent="-165100" algn="l">
              <a:lnSpc>
                <a:spcPct val="100000"/>
              </a:lnSpc>
              <a:buClr>
                <a:srgbClr val="595959"/>
              </a:buClr>
              <a:buChar char="•"/>
              <a:defRPr/>
            </a:pPr>
            <a:r>
              <a:rPr lang="en-US" sz="1300" b="0" i="0" u="none" strike="noStrike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STM32F103主控芯片为核心控制</a:t>
            </a:r>
            <a:endParaRPr lang="en-US" sz="1100" dirty="0"/>
          </a:p>
          <a:p>
            <a:pPr marL="165100" indent="-165100" algn="l">
              <a:lnSpc>
                <a:spcPct val="100000"/>
              </a:lnSpc>
              <a:buClr>
                <a:srgbClr val="595959"/>
              </a:buClr>
              <a:buChar char="•"/>
            </a:pPr>
            <a:r>
              <a:rPr lang="en-US" sz="13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集成多源环境传感器进行底层数据采集</a:t>
            </a:r>
            <a:endParaRPr lang="en-US" sz="1300" b="0" i="0" u="none" strike="noStrike" dirty="0"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5460" y="1543050"/>
            <a:ext cx="3562350" cy="2686050"/>
          </a:xfrm>
          <a:prstGeom prst="roundRect">
            <a:avLst>
              <a:gd name="adj" fmla="val 4728"/>
            </a:avLst>
          </a:prstGeom>
          <a:solidFill>
            <a:srgbClr val="F0F2F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8000" y="2374900"/>
            <a:ext cx="1016000" cy="1016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315460" y="4445000"/>
            <a:ext cx="3562350" cy="381000"/>
          </a:xfrm>
          <a:prstGeom prst="roundRect">
            <a:avLst>
              <a:gd name="adj" fmla="val 0"/>
            </a:avLst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网络层(管)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5460" y="4953000"/>
            <a:ext cx="3562350" cy="1385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165100" indent="-165100" algn="l">
              <a:lnSpc>
                <a:spcPct val="100000"/>
              </a:lnSpc>
              <a:buClr>
                <a:srgbClr val="595959"/>
              </a:buClr>
              <a:buChar char="•"/>
              <a:defRPr/>
            </a:pPr>
            <a:r>
              <a:rPr lang="en-US" sz="1300" b="0" i="0" u="none" strike="noStrike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基于ESP8266模块建立无线连接</a:t>
            </a:r>
            <a:endParaRPr lang="en-US" sz="1100" dirty="0"/>
          </a:p>
          <a:p>
            <a:pPr marL="165100" indent="-165100" algn="l">
              <a:lnSpc>
                <a:spcPct val="100000"/>
              </a:lnSpc>
              <a:buClr>
                <a:srgbClr val="595959"/>
              </a:buClr>
              <a:buChar char="•"/>
            </a:pPr>
            <a:r>
              <a:rPr lang="en-US" sz="13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建立设备端与云端的透明通信链路</a:t>
            </a:r>
            <a:endParaRPr lang="en-US" sz="1300" b="0" i="0" u="none" strike="noStrike" dirty="0"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15300" y="1543050"/>
            <a:ext cx="3562350" cy="2686050"/>
          </a:xfrm>
          <a:prstGeom prst="roundRect">
            <a:avLst>
              <a:gd name="adj" fmla="val 4728"/>
            </a:avLst>
          </a:prstGeom>
          <a:solidFill>
            <a:srgbClr val="F0F2F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85300" y="2374900"/>
            <a:ext cx="1016000" cy="1016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115300" y="4445000"/>
            <a:ext cx="3562350" cy="381000"/>
          </a:xfrm>
          <a:prstGeom prst="roundRect">
            <a:avLst>
              <a:gd name="adj" fmla="val 0"/>
            </a:avLst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应用层(云)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15300" y="4953000"/>
            <a:ext cx="3562350" cy="1385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165100" indent="-165100" algn="l">
              <a:lnSpc>
                <a:spcPct val="100000"/>
              </a:lnSpc>
              <a:buClr>
                <a:srgbClr val="595959"/>
              </a:buClr>
              <a:buChar char="•"/>
              <a:defRPr/>
            </a:pPr>
            <a:r>
              <a:rPr lang="en-US" sz="13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依托中国移动OneNet承载数据可视化</a:t>
            </a:r>
            <a:endParaRPr lang="en-US" sz="1100" dirty="0"/>
          </a:p>
          <a:p>
            <a:pPr marL="165100" indent="-165100" algn="l">
              <a:lnSpc>
                <a:spcPct val="100000"/>
              </a:lnSpc>
              <a:buClr>
                <a:srgbClr val="595959"/>
              </a:buClr>
              <a:buChar char="•"/>
            </a:pPr>
            <a:r>
              <a:rPr lang="en-US" sz="13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微信小程序作为触点，实现监控与操作</a:t>
            </a:r>
            <a:endParaRPr lang="en-US" sz="1300" b="0" i="0" u="none" strike="noStrike" dirty="0"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总体架构展开：感知层(端)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多源智能传感器矩阵与主控节点配置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" y="1524000"/>
            <a:ext cx="7112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1905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67" r="67"/>
          <a:stretch>
            <a:fillRect/>
          </a:stretch>
        </p:blipFill>
        <p:spPr>
          <a:xfrm>
            <a:off x="313457" y="1778000"/>
            <a:ext cx="6925543" cy="3556000"/>
          </a:xfrm>
          <a:prstGeom prst="roundRect">
            <a:avLst>
              <a:gd name="adj" fmla="val 18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381000" y="5334000"/>
            <a:ext cx="7112000" cy="381000"/>
          </a:xfrm>
          <a:prstGeom prst="roundRect">
            <a:avLst>
              <a:gd name="adj" fmla="val 53333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图：论文系统总体架构图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0" y="1524000"/>
            <a:ext cx="4191000" cy="4318000"/>
          </a:xfrm>
          <a:prstGeom prst="roundRect">
            <a:avLst>
              <a:gd name="adj" fmla="val 3030"/>
            </a:avLst>
          </a:prstGeom>
          <a:solidFill>
            <a:srgbClr val="FAFAFC">
              <a:alpha val="9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747000" y="1651000"/>
            <a:ext cx="3937000" cy="4064000"/>
          </a:xfrm>
          <a:prstGeom prst="roundRect">
            <a:avLst>
              <a:gd name="adj" fmla="val 5161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spcBef>
                <a:spcPts val="500"/>
              </a:spcBef>
              <a:defRPr/>
            </a:pPr>
            <a:r>
              <a:rPr lang="en-US" sz="1400" b="1" i="0" u="none" strike="noStrike" dirty="0">
                <a:solidFill>
                  <a:srgbClr val="5B5CE6"/>
                </a:solidFill>
                <a:latin typeface="Open Sans"/>
                <a:ea typeface="Open Sans"/>
                <a:cs typeface="Open Sans"/>
                <a:sym typeface="Open Sans"/>
              </a:rPr>
              <a:t>■ </a:t>
            </a:r>
            <a:r>
              <a:rPr lang="en-US" sz="1400" b="1" i="0" u="none" strike="noStrike" dirty="0" err="1">
                <a:solidFill>
                  <a:srgbClr val="5B5CE6"/>
                </a:solidFill>
                <a:latin typeface="Open Sans"/>
                <a:ea typeface="Open Sans"/>
                <a:cs typeface="Open Sans"/>
                <a:sym typeface="Open Sans"/>
              </a:rPr>
              <a:t>主控节点</a:t>
            </a:r>
            <a:endParaRPr lang="en-US" sz="1100" dirty="0"/>
          </a:p>
          <a:p>
            <a:pPr marL="152400" indent="-1524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200" b="1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STM32F103C8T6</a:t>
            </a:r>
            <a:br>
              <a:rPr lang="en-US" sz="12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200" b="0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负责数据汇总、A</a:t>
            </a:r>
            <a:r>
              <a:rPr lang="en-US" sz="12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-US" sz="1200" b="0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D转换与本地逻辑判断</a:t>
            </a:r>
            <a:r>
              <a:rPr lang="en-US" sz="12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400" b="1" i="0" u="none" strike="noStrike" dirty="0">
                <a:solidFill>
                  <a:srgbClr val="5B5CE6"/>
                </a:solidFill>
                <a:latin typeface="Open Sans"/>
                <a:ea typeface="Open Sans"/>
                <a:cs typeface="Open Sans"/>
                <a:sym typeface="Open Sans"/>
              </a:rPr>
              <a:t>■ </a:t>
            </a:r>
            <a:r>
              <a:rPr lang="en-US" sz="1400" b="1" i="0" u="none" strike="noStrike" dirty="0" err="1">
                <a:solidFill>
                  <a:srgbClr val="5B5CE6"/>
                </a:solidFill>
                <a:latin typeface="Open Sans"/>
                <a:ea typeface="Open Sans"/>
                <a:cs typeface="Open Sans"/>
                <a:sym typeface="Open Sans"/>
              </a:rPr>
              <a:t>核心传感器矩阵</a:t>
            </a:r>
            <a:endParaRPr lang="en-US" sz="1400" b="1" i="0" u="none" strike="noStrike" dirty="0">
              <a:solidFill>
                <a:srgbClr val="5B5CE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52400" indent="-1524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200" b="1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DHT11温湿度传感器</a:t>
            </a:r>
            <a:br>
              <a:rPr lang="en-US" sz="12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200" b="0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通过单总线协议，精准采集温度与相对湿度</a:t>
            </a:r>
            <a:r>
              <a:rPr lang="en-US" sz="12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  <a:p>
            <a:pPr marL="152400" indent="-1524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200" b="1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MQ-2烟雾传感器</a:t>
            </a:r>
            <a:br>
              <a:rPr lang="en-US" sz="12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200" b="0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对可燃气体及烟雾高灵敏监测，预防隐患</a:t>
            </a:r>
            <a:r>
              <a:rPr lang="en-US" sz="12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  <a:p>
            <a:pPr marL="152400" indent="-1524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200" b="1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GL5516光敏传感器</a:t>
            </a:r>
            <a:br>
              <a:rPr lang="en-US" sz="12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200" b="0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利用光生伏特效应，检测光照强度变化</a:t>
            </a:r>
            <a:r>
              <a:rPr lang="en-US" sz="12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总体架构展开：网络层(管)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高效、轻量的设备上云双向数据链路设计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1524000"/>
            <a:ext cx="7112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1905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67" r="67"/>
          <a:stretch>
            <a:fillRect/>
          </a:stretch>
        </p:blipFill>
        <p:spPr>
          <a:xfrm>
            <a:off x="576345" y="1777999"/>
            <a:ext cx="6662655" cy="3421017"/>
          </a:xfrm>
          <a:prstGeom prst="roundRect">
            <a:avLst>
              <a:gd name="adj" fmla="val 18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381000" y="5334000"/>
            <a:ext cx="7112000" cy="381000"/>
          </a:xfrm>
          <a:prstGeom prst="roundRect">
            <a:avLst>
              <a:gd name="adj" fmla="val 53333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图：论文系统总体架构图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0" y="1524000"/>
            <a:ext cx="4191000" cy="4318000"/>
          </a:xfrm>
          <a:prstGeom prst="roundRect">
            <a:avLst>
              <a:gd name="adj" fmla="val 3030"/>
            </a:avLst>
          </a:prstGeom>
          <a:solidFill>
            <a:srgbClr val="FAFAFC">
              <a:alpha val="9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747000" y="1651000"/>
            <a:ext cx="3937000" cy="4064000"/>
          </a:xfrm>
          <a:prstGeom prst="roundRect">
            <a:avLst>
              <a:gd name="adj" fmla="val 5161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spcBef>
                <a:spcPts val="500"/>
              </a:spcBef>
              <a:defRPr/>
            </a:pPr>
            <a:r>
              <a:rPr lang="en-US" sz="1400" b="1" i="0" u="none" strike="noStrike">
                <a:solidFill>
                  <a:srgbClr val="FF6B6B"/>
                </a:solidFill>
                <a:latin typeface="Open Sans"/>
                <a:ea typeface="Open Sans"/>
                <a:cs typeface="Open Sans"/>
                <a:sym typeface="Open Sans"/>
              </a:rPr>
              <a:t>■ 网络通信硬件</a:t>
            </a:r>
            <a:endParaRPr lang="en-US" sz="1100"/>
          </a:p>
          <a:p>
            <a:pPr marL="152400" indent="-1524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200" b="1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ESP8266 Wi-Fi 模块</a:t>
            </a:r>
            <a:br>
              <a:rPr lang="en-US" sz="1200" b="0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200" b="0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通过串行接口与主控通信，连接室内路由器，打通TCP/IP底层链路。</a:t>
            </a:r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400" b="1" i="0" u="none" strike="noStrike">
                <a:solidFill>
                  <a:srgbClr val="FF6B6B"/>
                </a:solidFill>
                <a:latin typeface="Open Sans"/>
                <a:ea typeface="Open Sans"/>
                <a:cs typeface="Open Sans"/>
                <a:sym typeface="Open Sans"/>
              </a:rPr>
              <a:t>■ 核心传输协议</a:t>
            </a:r>
          </a:p>
          <a:p>
            <a:pPr marL="152400" indent="-1524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200" b="1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MQTT 轻量级协议</a:t>
            </a:r>
            <a:br>
              <a:rPr lang="en-US" sz="1200" b="0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200" b="0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采用发布/订阅模式，极大降低报文开销，适合带宽受限的嵌入式设备。</a:t>
            </a:r>
          </a:p>
          <a:p>
            <a:pPr marL="152400" indent="-1524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200" b="1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稳定双向通信</a:t>
            </a:r>
            <a:br>
              <a:rPr lang="en-US" sz="1200" b="0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200" b="0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保证数据高效上报，确保云端指令低延迟穿透到达执行模块。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系统的核心工作流程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4445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从数据采集、云端上报到远程执行的闭环控制路线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1346835" y="3893819"/>
            <a:ext cx="95211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B5CE6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905000" y="3798570"/>
            <a:ext cx="187960" cy="18796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8" name="Connector 8"/>
          <p:cNvCxnSpPr/>
          <p:nvPr/>
        </p:nvCxnSpPr>
        <p:spPr>
          <a:xfrm rot="-5429840">
            <a:off x="1262380" y="3061307"/>
            <a:ext cx="146304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B6B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89000" y="2315210"/>
            <a:ext cx="1016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系统初始化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095500" y="2284730"/>
            <a:ext cx="219329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硬件与连接就绪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95500" y="2599690"/>
            <a:ext cx="2113280" cy="8305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各外设完成配置，ESP8266连接热点并与云平台握手。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3798570"/>
            <a:ext cx="187960" cy="18796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13"/>
          <p:cNvCxnSpPr/>
          <p:nvPr/>
        </p:nvCxnSpPr>
        <p:spPr>
          <a:xfrm rot="5366624">
            <a:off x="3879850" y="4633626"/>
            <a:ext cx="1308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B6B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429000" y="4965700"/>
            <a:ext cx="1016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数据采集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4178300"/>
            <a:ext cx="219329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传感器信号解析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4493260"/>
            <a:ext cx="2113280" cy="8305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主控定时读取传感器数据，进行模数转换并滤波处理。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985000" y="3798570"/>
            <a:ext cx="187960" cy="18796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8" name="Connector 18"/>
          <p:cNvCxnSpPr/>
          <p:nvPr/>
        </p:nvCxnSpPr>
        <p:spPr>
          <a:xfrm rot="-5429840">
            <a:off x="6342380" y="3061307"/>
            <a:ext cx="146304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B6B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5969000" y="2315210"/>
            <a:ext cx="1016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云端同步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75500" y="2284730"/>
            <a:ext cx="219329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数据实时上报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75500" y="2599690"/>
            <a:ext cx="2113280" cy="8305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数据封装为JSON格式，通过MQTT协议发布至OneNet平台。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0" y="3798570"/>
            <a:ext cx="187960" cy="18796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3" name="Connector 23"/>
          <p:cNvCxnSpPr/>
          <p:nvPr/>
        </p:nvCxnSpPr>
        <p:spPr>
          <a:xfrm rot="5366624">
            <a:off x="8959850" y="4633626"/>
            <a:ext cx="1308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B6B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509000" y="4965700"/>
            <a:ext cx="101600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远程控制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715500" y="4178300"/>
            <a:ext cx="2193290" cy="369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指令下发执行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715500" y="4493260"/>
            <a:ext cx="2113280" cy="8305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接收云端或小程序下发的指令，解析后驱动报警器与LED等模块。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15440" y="205740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276600" y="371856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64870" y="2860040"/>
            <a:ext cx="3956050" cy="848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PART 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19650" y="3040380"/>
            <a:ext cx="508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核心研究成果与测试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19650" y="3614420"/>
            <a:ext cx="6318250" cy="4622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系统硬件及软件实现与各项核心性能指标展示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本研究的特色与创新点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聚焦功能完整性与控制闭环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6640" y="3220720"/>
            <a:ext cx="2479040" cy="2479040"/>
          </a:xfrm>
          <a:prstGeom prst="ellipse">
            <a:avLst/>
          </a:prstGeom>
          <a:solidFill>
            <a:srgbClr val="C7C8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007360" y="3220720"/>
            <a:ext cx="2479040" cy="247904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032000" y="1690370"/>
            <a:ext cx="2479040" cy="24790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311400" y="2667000"/>
            <a:ext cx="190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边缘云端双控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33500" y="4191000"/>
            <a:ext cx="190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监测调控一体化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02000" y="4191000"/>
            <a:ext cx="190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极简跨端体验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051050"/>
            <a:ext cx="4445000" cy="5232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核心创新体系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921000"/>
            <a:ext cx="5080000" cy="553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Montserrat"/>
                <a:ea typeface="Montserrat"/>
                <a:cs typeface="Montserrat"/>
                <a:sym typeface="Montserrat"/>
              </a:rPr>
              <a:t>1. 监测调控一体化</a:t>
            </a:r>
            <a:endParaRPr lang="en-US" sz="1100"/>
          </a:p>
          <a:p>
            <a:pPr indent="0" algn="l">
              <a:lnSpc>
                <a:spcPts val="1500"/>
              </a:lnSpc>
            </a:pPr>
            <a:r>
              <a:rPr lang="en-US" sz="14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在硬件与软件层面均实现了“采集-显示-同步-控制”的完整闭环，消除控制断层。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4064000"/>
            <a:ext cx="5080000" cy="553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F2329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1800" b="1" i="0" u="none" strike="noStrike" dirty="0" err="1">
                <a:solidFill>
                  <a:srgbClr val="1F2329"/>
                </a:solidFill>
                <a:latin typeface="Montserrat"/>
                <a:ea typeface="Montserrat"/>
                <a:cs typeface="Montserrat"/>
                <a:sym typeface="Montserrat"/>
              </a:rPr>
              <a:t>云端控制</a:t>
            </a:r>
            <a:endParaRPr lang="en-US" sz="1100" dirty="0"/>
          </a:p>
          <a:p>
            <a:pPr indent="0" algn="l">
              <a:lnSpc>
                <a:spcPts val="1500"/>
              </a:lnSpc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支持云端的主动下发干预，提升系统弹性</a:t>
            </a:r>
            <a:r>
              <a:rPr lang="en-US" sz="1400" b="0" i="0" u="none" strike="noStrike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350000" y="5207000"/>
            <a:ext cx="5080000" cy="5537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Montserrat"/>
                <a:ea typeface="Montserrat"/>
                <a:cs typeface="Montserrat"/>
                <a:sym typeface="Montserrat"/>
              </a:rPr>
              <a:t>3. 极简的用户跨端体验</a:t>
            </a:r>
            <a:endParaRPr lang="en-US" sz="1100"/>
          </a:p>
          <a:p>
            <a:pPr indent="0" algn="l">
              <a:lnSpc>
                <a:spcPts val="1500"/>
              </a:lnSpc>
            </a:pPr>
            <a:r>
              <a:rPr lang="en-US" sz="14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抛弃传统繁杂的独立APP，通过微信小程序提供轻量、即走即用的监控方案。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数据采集精度与长期稳定性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全天候环境参数趋势跟踪分析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778000"/>
            <a:ext cx="5715000" cy="3810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2032000"/>
            <a:ext cx="4318000" cy="317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连续24小时稳定追踪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采集室内环境温湿度数据，波动曲线精确反映了日间光照及夜间温度的自然变化。</a:t>
            </a: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高精度数据保障</a:t>
            </a: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与高精度温湿度计校准后，温度最大误差控制在±0.5℃，湿度在±2%RH以内。</a:t>
            </a: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采集与本地显示同步</a:t>
            </a: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数据不仅安全上传云端，本地OLED也以约1秒的刷新频率实现零感延迟显示。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系统远程控制指令响应性能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软硬件联动与端到端下发时延表现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778000"/>
            <a:ext cx="5715000" cy="3810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2032000"/>
            <a:ext cx="4064000" cy="317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指令下发顺畅无阻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小程序控制指令通过HTTP到达OneNet服务器后，即时通过长连接MQTT下发至边缘设备端。</a:t>
            </a: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平均响应延迟约为2.2秒</a:t>
            </a: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经反复测试统计，从用户点击按钮到设备端实际动作，链路时延稳定保持在2秒级别内。</a:t>
            </a: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6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控制通道稳定可靠</a:t>
            </a: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无论执行高频灯光调节还是蜂鸣器控制，系统响应皆高度一致，未发生丢包与错发。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应用层实现(一)：OneNet云端服务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中国移动OneNet平台的设备托管与数据流可视化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508000" y="1778000"/>
            <a:ext cx="6096000" cy="3454400"/>
          </a:xfrm>
          <a:prstGeom prst="roundRect">
            <a:avLst>
              <a:gd name="adj" fmla="val 183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508000" y="5397500"/>
            <a:ext cx="6096000" cy="381000"/>
          </a:xfrm>
          <a:prstGeom prst="roundRect">
            <a:avLst>
              <a:gd name="adj" fmla="val 53333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图：中国移动OneNet平台数据可视化仪表盘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0" y="1651000"/>
            <a:ext cx="4826000" cy="4064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lnSpcReduction="10000"/>
          </a:bodyPr>
          <a:lstStyle/>
          <a:p>
            <a:pPr indent="0" algn="l">
              <a:lnSpc>
                <a:spcPct val="125000"/>
              </a:lnSpc>
              <a:spcBef>
                <a:spcPts val="500"/>
              </a:spcBef>
              <a:defRPr/>
            </a:pPr>
            <a:r>
              <a:rPr lang="en-US" sz="1800" b="1" i="0" u="none" strike="noStrike">
                <a:solidFill>
                  <a:srgbClr val="5B5CE6"/>
                </a:solidFill>
                <a:latin typeface="Open Sans"/>
                <a:ea typeface="Open Sans"/>
                <a:cs typeface="Open Sans"/>
                <a:sym typeface="Open Sans"/>
              </a:rPr>
              <a:t>核心云端服务能力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400" b="1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1. 设备无缝接入与托管</a:t>
            </a:r>
          </a:p>
          <a:p>
            <a:pPr indent="0" algn="l">
              <a:lnSpc>
                <a:spcPct val="125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云平台提供核心的产品创建与鉴权管理，设备端通过三元组(ProductID, DeviceID, AuthInfo)安全直连。</a:t>
            </a: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400" b="1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2. 数据流存储与转发枢纽</a:t>
            </a:r>
          </a:p>
          <a:p>
            <a:pPr indent="0" algn="l">
              <a:lnSpc>
                <a:spcPct val="125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对底层推送的高频JSON格式数据进行时序存储，同时作为指令中转站，将终端用户(小程序)的操作平滑路由至设备端，测试期上报成功率达99%。</a:t>
            </a: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400" b="1" i="0" u="none" strike="noStrike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3. 可视化仪表盘(Dashboard)</a:t>
            </a:r>
          </a:p>
          <a:p>
            <a:pPr indent="0" algn="l">
              <a:lnSpc>
                <a:spcPct val="125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利用云端内置组件配置多维数据看板，直观渲染室内温湿度曲线及报警状态，方便管理者进行全局态势感知。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应用层实现(二)：微信小程序端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跨平台、免安装的极简终端用户交互体验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105" b="105"/>
          <a:stretch>
            <a:fillRect/>
          </a:stretch>
        </p:blipFill>
        <p:spPr>
          <a:xfrm>
            <a:off x="1270000" y="1651000"/>
            <a:ext cx="2095500" cy="3949700"/>
          </a:xfrm>
          <a:prstGeom prst="roundRect">
            <a:avLst>
              <a:gd name="adj" fmla="val 909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1270000" y="5715000"/>
            <a:ext cx="2095500" cy="381000"/>
          </a:xfrm>
          <a:prstGeom prst="roundRect">
            <a:avLst>
              <a:gd name="adj" fmla="val 53333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图：小程序主界面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t="83" b="83"/>
          <a:stretch>
            <a:fillRect/>
          </a:stretch>
        </p:blipFill>
        <p:spPr>
          <a:xfrm>
            <a:off x="3683000" y="1816100"/>
            <a:ext cx="2095500" cy="3784600"/>
          </a:xfrm>
          <a:prstGeom prst="roundRect">
            <a:avLst>
              <a:gd name="adj" fmla="val 909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3683000" y="5715000"/>
            <a:ext cx="2095500" cy="381000"/>
          </a:xfrm>
          <a:prstGeom prst="roundRect">
            <a:avLst>
              <a:gd name="adj" fmla="val 53333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图：状态联动与反馈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778000"/>
            <a:ext cx="5080000" cy="4064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500"/>
              </a:spcBef>
              <a:defRPr/>
            </a:pPr>
            <a:r>
              <a:rPr lang="en-US" sz="1800" b="1" i="0" u="none" strike="noStrike" dirty="0" err="1">
                <a:solidFill>
                  <a:srgbClr val="5B5CE6"/>
                </a:solidFill>
                <a:latin typeface="Open Sans"/>
                <a:ea typeface="Open Sans"/>
                <a:cs typeface="Open Sans"/>
                <a:sym typeface="Open Sans"/>
              </a:rPr>
              <a:t>移动端功能架构</a:t>
            </a:r>
            <a:endParaRPr lang="en-US" sz="1100" dirty="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400" b="1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1. HTTP RESTful API </a:t>
            </a:r>
            <a:r>
              <a:rPr lang="en-US" sz="1400" b="1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调用机制</a:t>
            </a:r>
            <a:endParaRPr lang="en-US" sz="1400" b="1" i="0" u="none" strike="noStrike" dirty="0">
              <a:solidFill>
                <a:srgbClr val="1F232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algn="l">
              <a:lnSpc>
                <a:spcPct val="125000"/>
              </a:lnSpc>
              <a:spcBef>
                <a:spcPts val="500"/>
              </a:spcBef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通过调用OneNet开放的接口，利用GET请求拉取最新数据，POST请求推送控制指令，交互数据通过轻量级JSON格式解析</a:t>
            </a:r>
            <a:r>
              <a:rPr lang="en-US" sz="1400" b="0" i="0" u="none" strike="noStrike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400" b="1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sz="1400" b="1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实时状态监控模块</a:t>
            </a:r>
            <a:endParaRPr lang="en-US" sz="1400" b="1" i="0" u="none" strike="noStrike" dirty="0">
              <a:solidFill>
                <a:srgbClr val="1F232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algn="l">
              <a:lnSpc>
                <a:spcPct val="125000"/>
              </a:lnSpc>
              <a:spcBef>
                <a:spcPts val="500"/>
              </a:spcBef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直观展示室内的温湿度数值、光照强度以及烟雾浓度状态。配合动态阈值提醒，一旦监测到异常立即在界面形成醒目警示</a:t>
            </a:r>
            <a:r>
              <a:rPr lang="en-US" sz="1400" b="0" i="0" u="none" strike="noStrike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400" b="1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US" sz="1400" b="1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反向远程干预模块</a:t>
            </a:r>
            <a:endParaRPr lang="en-US" sz="1400" b="1" i="0" u="none" strike="noStrike" dirty="0">
              <a:solidFill>
                <a:srgbClr val="1F232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algn="l">
              <a:lnSpc>
                <a:spcPct val="125000"/>
              </a:lnSpc>
              <a:spcBef>
                <a:spcPts val="500"/>
              </a:spcBef>
            </a:pPr>
            <a:r>
              <a:rPr lang="en-US" sz="1400" b="0" i="0" u="none" strike="noStrike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不仅具备“监测”能力，更具备“调控”闭环。用户可通过按钮无缝控制室内的灯光补充和蜂鸣器报警器开关，平均时延小于2.5秒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15440" y="205740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276600" y="371856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64870" y="2860040"/>
            <a:ext cx="3956050" cy="848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Montserrat"/>
                <a:ea typeface="Montserrat"/>
                <a:cs typeface="Montserrat"/>
                <a:sym typeface="Montserrat"/>
              </a:rPr>
              <a:t>PART 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19650" y="3040380"/>
            <a:ext cx="508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研究结论与不足展望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19650" y="3614420"/>
            <a:ext cx="6318250" cy="4622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项目总结、局限性剖析与未来系统优化方向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825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系统整体性能指标结论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635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经过压力测试与长周期运行，系统各项核心指标均达到或优于设计预期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07110" y="2286000"/>
            <a:ext cx="2828290" cy="406400"/>
          </a:xfrm>
          <a:prstGeom prst="roundRect">
            <a:avLst>
              <a:gd name="adj" fmla="val 50000"/>
            </a:avLst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07110" y="2286000"/>
            <a:ext cx="2574290" cy="406400"/>
          </a:xfrm>
          <a:prstGeom prst="roundRect">
            <a:avLst>
              <a:gd name="adj" fmla="val 50000"/>
            </a:avLst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37260" y="1672590"/>
            <a:ext cx="2286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连续稳定运行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29640" y="2881630"/>
            <a:ext cx="2984500" cy="6464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历经72小时不间断压力测试，未见任何死机或意外重启现象。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31160" y="2308860"/>
            <a:ext cx="585470" cy="339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72h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02480" y="2286000"/>
            <a:ext cx="2828290" cy="406400"/>
          </a:xfrm>
          <a:prstGeom prst="roundRect">
            <a:avLst>
              <a:gd name="adj" fmla="val 50000"/>
            </a:avLst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02480" y="2286000"/>
            <a:ext cx="961390" cy="406400"/>
          </a:xfrm>
          <a:prstGeom prst="roundRect">
            <a:avLst>
              <a:gd name="adj" fmla="val 50000"/>
            </a:avLst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32630" y="1672590"/>
            <a:ext cx="2286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高精度温度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25010" y="2881630"/>
            <a:ext cx="2984500" cy="6464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核心温标误差严控在0.5度内，充分满足环境敏感型需求。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2308860"/>
            <a:ext cx="708660" cy="339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±0.5℃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7850" y="2286000"/>
            <a:ext cx="2828290" cy="406400"/>
          </a:xfrm>
          <a:prstGeom prst="roundRect">
            <a:avLst>
              <a:gd name="adj" fmla="val 50000"/>
            </a:avLst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97850" y="2286000"/>
            <a:ext cx="1356360" cy="406400"/>
          </a:xfrm>
          <a:prstGeom prst="roundRect">
            <a:avLst>
              <a:gd name="adj" fmla="val 50000"/>
            </a:avLst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28000" y="1672590"/>
            <a:ext cx="2286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湿度低漂移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0380" y="2881630"/>
            <a:ext cx="2984500" cy="6464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长效监测验证，相对湿度参数偏移始终锁定在商用标准线。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763000" y="2308860"/>
            <a:ext cx="715010" cy="339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±2%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07110" y="4478020"/>
            <a:ext cx="2828290" cy="406400"/>
          </a:xfrm>
          <a:prstGeom prst="roundRect">
            <a:avLst>
              <a:gd name="adj" fmla="val 50000"/>
            </a:avLst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07110" y="4478020"/>
            <a:ext cx="2432050" cy="406400"/>
          </a:xfrm>
          <a:prstGeom prst="roundRect">
            <a:avLst>
              <a:gd name="adj" fmla="val 50000"/>
            </a:avLst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37260" y="3865880"/>
            <a:ext cx="2286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云端上报率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9640" y="5073650"/>
            <a:ext cx="2984500" cy="6464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基于MQTT协议与重传机制</a:t>
            </a:r>
            <a:r>
              <a:rPr lang="en-US" sz="1200" b="0" i="0" u="none" strike="noStrike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，</a:t>
            </a:r>
            <a:r>
              <a:rPr lang="zh-CN" altLang="en-US" sz="1200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上千条</a:t>
            </a:r>
            <a:r>
              <a:rPr lang="en-US" sz="1200" b="0" i="0" u="none" strike="noStrike" dirty="0" err="1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条记录几乎无损送达</a:t>
            </a:r>
            <a:r>
              <a:rPr lang="en-US" sz="1200" b="0" i="0" u="none" strike="noStrike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2540000" y="4499610"/>
            <a:ext cx="839470" cy="339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99.9%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602480" y="4478020"/>
            <a:ext cx="2828290" cy="406400"/>
          </a:xfrm>
          <a:prstGeom prst="roundRect">
            <a:avLst>
              <a:gd name="adj" fmla="val 50000"/>
            </a:avLst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602480" y="4478020"/>
            <a:ext cx="2600960" cy="406400"/>
          </a:xfrm>
          <a:prstGeom prst="roundRect">
            <a:avLst>
              <a:gd name="adj" fmla="val 50000"/>
            </a:avLst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4532630" y="3865880"/>
            <a:ext cx="2286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断网重连率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525010" y="5073650"/>
            <a:ext cx="2984500" cy="6464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主动断网恢复后15秒内自愈，网络波动对监控不造成永久影响。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6413500" y="4499610"/>
            <a:ext cx="712470" cy="339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197850" y="4478020"/>
            <a:ext cx="2828290" cy="406400"/>
          </a:xfrm>
          <a:prstGeom prst="roundRect">
            <a:avLst>
              <a:gd name="adj" fmla="val 50000"/>
            </a:avLst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197850" y="4478020"/>
            <a:ext cx="1272540" cy="406400"/>
          </a:xfrm>
          <a:prstGeom prst="roundRect">
            <a:avLst>
              <a:gd name="adj" fmla="val 50000"/>
            </a:avLst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128000" y="3865880"/>
            <a:ext cx="2286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控制指令时延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120380" y="5073650"/>
            <a:ext cx="2984500" cy="6464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小程序操作全链路平均时延极低，跨越物理空间实现无感干预。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699500" y="4499610"/>
            <a:ext cx="712470" cy="339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2.2s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研究不足与未来展望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基于当前局限的四大系统升级方向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5715000" cy="4445000"/>
          </a:xfrm>
          <a:prstGeom prst="roundRect">
            <a:avLst>
              <a:gd name="adj" fmla="val 0"/>
            </a:avLst>
          </a:prstGeom>
          <a:solidFill>
            <a:srgbClr val="F0F0F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7" name="Connector 7"/>
          <p:cNvCxnSpPr/>
          <p:nvPr/>
        </p:nvCxnSpPr>
        <p:spPr>
          <a:xfrm rot="5390180">
            <a:off x="1650365" y="3992889"/>
            <a:ext cx="444627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100000"/>
              </a:srgbClr>
            </a:solidFill>
            <a:prstDash val="dash"/>
            <a:miter lim="8000000"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 rot="-7637">
            <a:off x="1014102" y="3994150"/>
            <a:ext cx="571627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08080">
                <a:alpha val="100000"/>
              </a:srgbClr>
            </a:solidFill>
            <a:prstDash val="dash"/>
            <a:miter lim="8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238500" y="1460500"/>
            <a:ext cx="1270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硬件延展方向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08500" y="1460500"/>
            <a:ext cx="1270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软件算法方向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rot="-5400000">
            <a:off x="-571500" y="2603500"/>
            <a:ext cx="1524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核心模块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 rot="-5400000">
            <a:off x="-571500" y="4889500"/>
            <a:ext cx="1524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周边配套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064000" y="2032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FF6B6B">
              <a:alpha val="20000"/>
            </a:srgbClr>
          </a:solidFill>
          <a:ln w="25400" cap="flat" cmpd="sng">
            <a:solidFill>
              <a:srgbClr val="FF6B6B">
                <a:alpha val="100000"/>
              </a:srgbClr>
            </a:solidFill>
            <a:prstDash val="solid"/>
            <a:round/>
          </a:ln>
        </p:spPr>
        <p:txBody>
          <a:bodyPr vert="horz" wrap="square" lIns="127000" tIns="127000" rIns="127000" bIns="1270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方向 2 (算法突破)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算法融合优化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143000" y="2032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C7C8FF">
              <a:alpha val="20000"/>
            </a:srgbClr>
          </a:solidFill>
          <a:ln w="25400" cap="flat" cmpd="sng">
            <a:solidFill>
              <a:srgbClr val="5B5CE6">
                <a:alpha val="100000"/>
              </a:srgbClr>
            </a:solidFill>
            <a:prstDash val="solid"/>
            <a:round/>
          </a:ln>
        </p:spPr>
        <p:txBody>
          <a:bodyPr vert="horz" wrap="square" lIns="127000" tIns="127000" rIns="127000" bIns="12700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方向 1 (感知扩容)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监测维度扩展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064000" y="4191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E6E6E6">
              <a:alpha val="50000"/>
            </a:srgbClr>
          </a:solidFill>
          <a:ln w="25400" cap="flat" cmpd="sng">
            <a:solidFill>
              <a:srgbClr val="808080">
                <a:alpha val="100000"/>
              </a:srgbClr>
            </a:solidFill>
            <a:prstDash val="solid"/>
            <a:round/>
          </a:ln>
        </p:spPr>
        <p:txBody>
          <a:bodyPr vert="horz" wrap="square" lIns="127000" tIns="127000" rIns="127000" bIns="12700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rPr>
              <a:t>方向 4 (体验升级)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应用界面迭代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143000" y="4191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E6E6E6">
              <a:alpha val="20000"/>
            </a:srgbClr>
          </a:solidFill>
          <a:ln w="12700" cap="flat" cmpd="sng">
            <a:solidFill>
              <a:srgbClr val="808080">
                <a:alpha val="100000"/>
              </a:srgbClr>
            </a:solidFill>
            <a:prstDash val="dash"/>
            <a:round/>
          </a:ln>
        </p:spPr>
        <p:txBody>
          <a:bodyPr vert="horz" wrap="square" lIns="127000" tIns="127000" rIns="127000" bIns="12700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rPr>
              <a:t>方向 3 (能效控制)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功耗深度管理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112000" y="1778000"/>
            <a:ext cx="4445000" cy="444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监测维度扩展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计划增加CO2和甲醛等更多敏感气体监测指标，实现更全面的环境管理闭环。</a:t>
            </a: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800" b="1" i="0" u="none" strike="noStrike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rPr>
              <a:t>算法融合优化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引入机器学习等前沿算法进行数据自校准，进一步提升多干扰场景下传感器精度。</a:t>
            </a: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800" b="1" i="0" u="none" strike="noStrike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rPr>
              <a:t>功耗深度管理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针对ESP8266模块设计深度休眠唤醒机制，大幅延长移动电池供电下的工作寿命。</a:t>
            </a: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800" b="1" i="0" u="none" strike="noStrike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rPr>
              <a:t>应用界面迭代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为小程序注入历史数据回放及触发阈值自定义功能，提升终端用户的掌控度与体验。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6820" y="-1347470"/>
            <a:ext cx="2453640" cy="2453640"/>
          </a:xfrm>
          <a:prstGeom prst="ellipse">
            <a:avLst/>
          </a:prstGeom>
          <a:solidFill>
            <a:srgbClr val="5B5CE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4340" y="313690"/>
            <a:ext cx="792480" cy="792480"/>
          </a:xfrm>
          <a:prstGeom prst="ellipse">
            <a:avLst/>
          </a:prstGeom>
          <a:solidFill>
            <a:srgbClr val="FF6B6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43660" y="448310"/>
            <a:ext cx="6985000" cy="4000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致谢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43660" y="828040"/>
            <a:ext cx="3810000" cy="26162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感恩一路相伴与支持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524000"/>
            <a:ext cx="1016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762000" tIns="508000" rIns="762000" bIns="508000" rtlCol="0" anchor="ctr" anchorCtr="0">
            <a:normAutofit/>
          </a:bodyPr>
          <a:lstStyle/>
          <a:p>
            <a:pPr indent="0" algn="l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16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本论文的顺利完成，离不开</a:t>
            </a:r>
            <a:r>
              <a:rPr lang="en-US" sz="1600" b="1" i="0" u="none" strike="noStrike" dirty="0">
                <a:solidFill>
                  <a:srgbClr val="5B5CE6"/>
                </a:solidFill>
                <a:latin typeface="Open Sans"/>
                <a:ea typeface="Open Sans"/>
                <a:cs typeface="Open Sans"/>
                <a:sym typeface="Open Sans"/>
              </a:rPr>
              <a:t>指导老师关朝旭</a:t>
            </a:r>
            <a:r>
              <a:rPr lang="en-US" sz="16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自始至终的关怀与指导。从课题选定、方案规划，到硬件调试与文稿修改，关老师的悉心指点和严谨求实的学术作风令我深感敬佩与受益。</a:t>
            </a:r>
            <a:endParaRPr lang="en-US" sz="1100" dirty="0"/>
          </a:p>
          <a:p>
            <a:pPr indent="0" algn="l">
              <a:lnSpc>
                <a:spcPct val="150000"/>
              </a:lnSpc>
              <a:spcBef>
                <a:spcPts val="1500"/>
              </a:spcBef>
            </a:pPr>
            <a:r>
              <a:rPr lang="en-US" sz="1600" b="0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衷心感谢</a:t>
            </a:r>
            <a:r>
              <a:rPr lang="en-US" sz="1600" b="1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机械工程学院的全体授课教师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，是</a:t>
            </a:r>
            <a:r>
              <a:rPr lang="zh-CN" altLang="en-US" sz="16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老师们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的倾囊相授为我构筑了坚实的专业根基与思考方法</a:t>
            </a:r>
            <a:r>
              <a:rPr lang="en-US" sz="16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。</a:t>
            </a:r>
          </a:p>
          <a:p>
            <a:pPr indent="0" algn="l">
              <a:lnSpc>
                <a:spcPct val="150000"/>
              </a:lnSpc>
              <a:spcBef>
                <a:spcPts val="1500"/>
              </a:spcBef>
            </a:pPr>
            <a:r>
              <a:rPr lang="en-US" sz="1600" b="0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最后，感谢母校</a:t>
            </a:r>
            <a:r>
              <a:rPr lang="en-US" sz="1600" b="1" i="0" u="none" strike="noStrike" dirty="0" err="1">
                <a:solidFill>
                  <a:srgbClr val="5B5CE6"/>
                </a:solidFill>
                <a:latin typeface="Open Sans"/>
                <a:ea typeface="Open Sans"/>
                <a:cs typeface="Open Sans"/>
                <a:sym typeface="Open Sans"/>
              </a:rPr>
              <a:t>嘉兴大学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四年来的培养与提供的广阔发展平台</a:t>
            </a:r>
            <a:r>
              <a:rPr lang="en-US" sz="1600" b="0" i="0" u="none" strike="noStrike" dirty="0">
                <a:solidFill>
                  <a:srgbClr val="1F2329"/>
                </a:solidFill>
                <a:latin typeface="Open Sans"/>
                <a:ea typeface="Open Sans"/>
                <a:cs typeface="Open Sans"/>
                <a:sym typeface="Open Sans"/>
              </a:rPr>
              <a:t>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53000" y="4826000"/>
            <a:ext cx="571500" cy="5715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667000" y="2159000"/>
            <a:ext cx="381000" cy="3810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937000" y="1968500"/>
            <a:ext cx="127000" cy="127000"/>
          </a:xfrm>
          <a:prstGeom prst="ellipse">
            <a:avLst/>
          </a:prstGeom>
          <a:solidFill>
            <a:srgbClr val="FF6B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556000" y="3937000"/>
            <a:ext cx="101600" cy="1016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826000" y="2349500"/>
            <a:ext cx="101600" cy="1016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112000" y="825500"/>
            <a:ext cx="444500" cy="4445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874000" y="2286000"/>
            <a:ext cx="254000" cy="254000"/>
          </a:xfrm>
          <a:prstGeom prst="ellipse">
            <a:avLst/>
          </a:prstGeom>
          <a:solidFill>
            <a:srgbClr val="FF6B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763000" y="1968500"/>
            <a:ext cx="101600" cy="1016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0" y="4191000"/>
            <a:ext cx="228600" cy="2286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04000" y="4699000"/>
            <a:ext cx="127000" cy="127000"/>
          </a:xfrm>
          <a:prstGeom prst="ellipse">
            <a:avLst/>
          </a:prstGeom>
          <a:solidFill>
            <a:srgbClr val="FF6B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429500" y="5080000"/>
            <a:ext cx="127000" cy="1270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271000" y="4254500"/>
            <a:ext cx="76200" cy="762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651500" y="1714500"/>
            <a:ext cx="101600" cy="1016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731000" y="1968500"/>
            <a:ext cx="127000" cy="1270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778500" y="2476500"/>
            <a:ext cx="127000" cy="127000"/>
          </a:xfrm>
          <a:prstGeom prst="ellipse">
            <a:avLst/>
          </a:prstGeom>
          <a:solidFill>
            <a:srgbClr val="FF6B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366000" y="2540000"/>
            <a:ext cx="101600" cy="101600"/>
          </a:xfrm>
          <a:prstGeom prst="ellipse">
            <a:avLst/>
          </a:prstGeom>
          <a:solidFill>
            <a:srgbClr val="5B5C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279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5B5CE6"/>
                </a:solidFill>
                <a:latin typeface="Montserrat"/>
                <a:ea typeface="Montserrat"/>
                <a:cs typeface="Montserrat"/>
                <a:sym typeface="Montserrat"/>
              </a:rPr>
              <a:t>THANK FOR YOUR WATCH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381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0404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恳请各位老师批评指正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答辩学生：杨国豪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718</Words>
  <Application>Microsoft Office PowerPoint</Application>
  <PresentationFormat>宽屏</PresentationFormat>
  <Paragraphs>263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Montserrat</vt:lpstr>
      <vt:lpstr>Open Sans</vt:lpstr>
      <vt:lpstr>Arial</vt:lpstr>
      <vt:lpstr>Microsoft YaHei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guohao yang</dc:creator>
  <cp:lastModifiedBy>guohao yang</cp:lastModifiedBy>
  <cp:revision>3</cp:revision>
  <dcterms:modified xsi:type="dcterms:W3CDTF">2026-05-11T08:49:17Z</dcterms:modified>
</cp:coreProperties>
</file>